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목표 점수</c:v>
                </c:pt>
              </c:strCache>
            </c:strRef>
          </c:tx>
          <c:spPr>
            <a:solidFill>
              <a:srgbClr val="00F5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Consola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LV 1</c:v>
                  </c:pt>
                  <c:pt idx="1">
                    <c:v>LV 2</c:v>
                  </c:pt>
                  <c:pt idx="2">
                    <c:v>LV 3</c:v>
                  </c:pt>
                  <c:pt idx="3">
                    <c:v>LV 4</c:v>
                  </c:pt>
                  <c:pt idx="4">
                    <c:v>LV 5</c:v>
                  </c:pt>
                  <c:pt idx="5">
                    <c:v>LV 6</c:v>
                  </c:pt>
                  <c:pt idx="6">
                    <c:v>LV 7</c:v>
                  </c:pt>
                  <c:pt idx="7">
                    <c:v>LV 8</c:v>
                  </c:pt>
                  <c:pt idx="8">
                    <c:v>LV 9</c:v>
                  </c:pt>
                  <c:pt idx="9">
                    <c:v>LV 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850</c:v>
                </c:pt>
                <c:pt idx="1">
                  <c:v>1000</c:v>
                </c:pt>
                <c:pt idx="2">
                  <c:v>1250</c:v>
                </c:pt>
                <c:pt idx="3">
                  <c:v>1500</c:v>
                </c:pt>
                <c:pt idx="4">
                  <c:v>1750</c:v>
                </c:pt>
                <c:pt idx="5">
                  <c:v>2000</c:v>
                </c:pt>
                <c:pt idx="6">
                  <c:v>2250</c:v>
                </c:pt>
                <c:pt idx="7">
                  <c:v>2500</c:v>
                </c:pt>
                <c:pt idx="8">
                  <c:v>2750</c:v>
                </c:pt>
                <c:pt idx="9">
                  <c:v>3000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Consola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Consola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B95A8"/>
                </a:solidFill>
                <a:latin typeface="Consola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2182B"/>
        </a:solidFill>
        <a:ln>
          <a:noFill/>
        </a:ln>
        <a:effectLst/>
      </c:spPr>
    </c:plotArea>
    <c:plotVisOnly val="1"/>
    <c:dispBlanksAs val="span"/>
  </c:chart>
  <c:spPr>
    <a:solidFill>
      <a:srgbClr val="0A0E1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5075" y="4075689"/>
            <a:ext cx="78790" cy="78790"/>
          </a:xfrm>
          <a:prstGeom prst="ellipse">
            <a:avLst/>
          </a:prstGeom>
          <a:solidFill>
            <a:srgbClr val="00F5C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77741" y="5436688"/>
            <a:ext cx="66765" cy="66765"/>
          </a:xfrm>
          <a:prstGeom prst="ellipse">
            <a:avLst/>
          </a:prstGeom>
          <a:solidFill>
            <a:srgbClr val="FF149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14630" y="4134870"/>
            <a:ext cx="50553" cy="50553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40872" y="269664"/>
            <a:ext cx="39888" cy="39888"/>
          </a:xfrm>
          <a:prstGeom prst="ellipse">
            <a:avLst/>
          </a:prstGeom>
          <a:solidFill>
            <a:srgbClr val="00F5C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95717" y="3292892"/>
            <a:ext cx="63220" cy="63220"/>
          </a:xfrm>
          <a:prstGeom prst="ellipse">
            <a:avLst/>
          </a:prstGeom>
          <a:solidFill>
            <a:srgbClr val="FF149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872039" y="6398951"/>
            <a:ext cx="74796" cy="74796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948831" y="3590924"/>
            <a:ext cx="44403" cy="44403"/>
          </a:xfrm>
          <a:prstGeom prst="ellipse">
            <a:avLst/>
          </a:prstGeom>
          <a:solidFill>
            <a:srgbClr val="00F5C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20230" y="661230"/>
            <a:ext cx="47209" cy="47209"/>
          </a:xfrm>
          <a:prstGeom prst="ellipse">
            <a:avLst/>
          </a:prstGeom>
          <a:solidFill>
            <a:srgbClr val="FF149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57510" y="6568139"/>
            <a:ext cx="76298" cy="76298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35495" y="551212"/>
            <a:ext cx="45179" cy="45179"/>
          </a:xfrm>
          <a:prstGeom prst="ellipse">
            <a:avLst/>
          </a:prstGeom>
          <a:solidFill>
            <a:srgbClr val="00F5C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42820" y="4604969"/>
            <a:ext cx="57836" cy="57836"/>
          </a:xfrm>
          <a:prstGeom prst="ellipse">
            <a:avLst/>
          </a:prstGeom>
          <a:solidFill>
            <a:srgbClr val="FF149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867946" y="2786983"/>
            <a:ext cx="66392" cy="66392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3973" y="6112058"/>
            <a:ext cx="80846" cy="80846"/>
          </a:xfrm>
          <a:prstGeom prst="ellipse">
            <a:avLst/>
          </a:prstGeom>
          <a:solidFill>
            <a:srgbClr val="00F5C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51282" y="4581475"/>
            <a:ext cx="59097" cy="59097"/>
          </a:xfrm>
          <a:prstGeom prst="ellipse">
            <a:avLst/>
          </a:prstGeom>
          <a:solidFill>
            <a:srgbClr val="FF149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27303" y="1969830"/>
            <a:ext cx="48108" cy="48108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726558" y="94264"/>
            <a:ext cx="43642" cy="43642"/>
          </a:xfrm>
          <a:prstGeom prst="ellipse">
            <a:avLst/>
          </a:prstGeom>
          <a:solidFill>
            <a:srgbClr val="00F5C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47803" y="4876978"/>
            <a:ext cx="53961" cy="53961"/>
          </a:xfrm>
          <a:prstGeom prst="ellipse">
            <a:avLst/>
          </a:prstGeom>
          <a:solidFill>
            <a:srgbClr val="FF149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66556" y="2521941"/>
            <a:ext cx="49473" cy="49473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876103" y="3857886"/>
            <a:ext cx="62043" cy="62043"/>
          </a:xfrm>
          <a:prstGeom prst="ellipse">
            <a:avLst/>
          </a:prstGeom>
          <a:solidFill>
            <a:srgbClr val="00F5C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38000" y="3151688"/>
            <a:ext cx="36991" cy="36991"/>
          </a:xfrm>
          <a:prstGeom prst="ellipse">
            <a:avLst/>
          </a:prstGeom>
          <a:solidFill>
            <a:srgbClr val="FF149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16293" y="6779470"/>
            <a:ext cx="52482" cy="52482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70579" y="4009113"/>
            <a:ext cx="54235" cy="54235"/>
          </a:xfrm>
          <a:prstGeom prst="ellipse">
            <a:avLst/>
          </a:prstGeom>
          <a:solidFill>
            <a:srgbClr val="00F5C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36929" y="715948"/>
            <a:ext cx="77421" cy="77421"/>
          </a:xfrm>
          <a:prstGeom prst="ellipse">
            <a:avLst/>
          </a:prstGeom>
          <a:solidFill>
            <a:srgbClr val="FF149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549971" y="62258"/>
            <a:ext cx="67208" cy="67208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3877" y="4405379"/>
            <a:ext cx="64190" cy="64190"/>
          </a:xfrm>
          <a:prstGeom prst="ellipse">
            <a:avLst/>
          </a:prstGeom>
          <a:solidFill>
            <a:srgbClr val="00F5C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731912" y="827518"/>
            <a:ext cx="53821" cy="53821"/>
          </a:xfrm>
          <a:prstGeom prst="ellipse">
            <a:avLst/>
          </a:prstGeom>
          <a:solidFill>
            <a:srgbClr val="FF149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61509" y="5228120"/>
            <a:ext cx="55087" cy="55087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02393" y="6167320"/>
            <a:ext cx="81650" cy="81650"/>
          </a:xfrm>
          <a:prstGeom prst="ellipse">
            <a:avLst/>
          </a:prstGeom>
          <a:solidFill>
            <a:srgbClr val="00F5C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120437" y="3414045"/>
            <a:ext cx="48183" cy="48183"/>
          </a:xfrm>
          <a:prstGeom prst="ellipse">
            <a:avLst/>
          </a:prstGeom>
          <a:solidFill>
            <a:srgbClr val="FF149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79124" y="3695534"/>
            <a:ext cx="49766" cy="49766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63710" y="369447"/>
            <a:ext cx="40206" cy="40206"/>
          </a:xfrm>
          <a:prstGeom prst="ellipse">
            <a:avLst/>
          </a:prstGeom>
          <a:solidFill>
            <a:srgbClr val="00F5C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24739" y="4189116"/>
            <a:ext cx="39784" cy="39784"/>
          </a:xfrm>
          <a:prstGeom prst="ellipse">
            <a:avLst/>
          </a:prstGeom>
          <a:solidFill>
            <a:srgbClr val="FF149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075634" y="2860771"/>
            <a:ext cx="48856" cy="48856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08886" y="746139"/>
            <a:ext cx="44352" cy="44352"/>
          </a:xfrm>
          <a:prstGeom prst="ellipse">
            <a:avLst/>
          </a:prstGeom>
          <a:solidFill>
            <a:srgbClr val="00F5C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68194" y="5670681"/>
            <a:ext cx="40655" cy="40655"/>
          </a:xfrm>
          <a:prstGeom prst="ellipse">
            <a:avLst/>
          </a:prstGeom>
          <a:solidFill>
            <a:srgbClr val="FF149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077121" y="3626648"/>
            <a:ext cx="53082" cy="53082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900595" y="2438121"/>
            <a:ext cx="78405" cy="78405"/>
          </a:xfrm>
          <a:prstGeom prst="ellipse">
            <a:avLst/>
          </a:prstGeom>
          <a:solidFill>
            <a:srgbClr val="00F5C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137182" y="4015630"/>
            <a:ext cx="70934" cy="70934"/>
          </a:xfrm>
          <a:prstGeom prst="ellipse">
            <a:avLst/>
          </a:prstGeom>
          <a:solidFill>
            <a:srgbClr val="FF149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23688" y="2925343"/>
            <a:ext cx="42605" cy="42605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145229" y="1693544"/>
            <a:ext cx="57448" cy="57448"/>
          </a:xfrm>
          <a:prstGeom prst="ellipse">
            <a:avLst/>
          </a:prstGeom>
          <a:solidFill>
            <a:srgbClr val="00F5C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784250" y="514575"/>
            <a:ext cx="59409" cy="59409"/>
          </a:xfrm>
          <a:prstGeom prst="ellipse">
            <a:avLst/>
          </a:prstGeom>
          <a:solidFill>
            <a:srgbClr val="FF149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390540" y="1036828"/>
            <a:ext cx="60110" cy="60110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91033" y="4188755"/>
            <a:ext cx="41638" cy="41638"/>
          </a:xfrm>
          <a:prstGeom prst="ellipse">
            <a:avLst/>
          </a:prstGeom>
          <a:solidFill>
            <a:srgbClr val="00F5C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416422" y="6154835"/>
            <a:ext cx="63437" cy="63437"/>
          </a:xfrm>
          <a:prstGeom prst="ellipse">
            <a:avLst/>
          </a:prstGeom>
          <a:solidFill>
            <a:srgbClr val="FF149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809778" y="5934670"/>
            <a:ext cx="57232" cy="57232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70722" y="1185307"/>
            <a:ext cx="55082" cy="55082"/>
          </a:xfrm>
          <a:prstGeom prst="ellipse">
            <a:avLst/>
          </a:prstGeom>
          <a:solidFill>
            <a:srgbClr val="00F5C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106011" y="3426103"/>
            <a:ext cx="48724" cy="48724"/>
          </a:xfrm>
          <a:prstGeom prst="ellipse">
            <a:avLst/>
          </a:prstGeom>
          <a:solidFill>
            <a:srgbClr val="FF149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590311" y="376273"/>
            <a:ext cx="49810" cy="49810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1864884" y="2850761"/>
            <a:ext cx="67876" cy="67876"/>
          </a:xfrm>
          <a:prstGeom prst="ellipse">
            <a:avLst/>
          </a:prstGeom>
          <a:solidFill>
            <a:srgbClr val="00F5C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588745" y="6524098"/>
            <a:ext cx="59365" cy="59365"/>
          </a:xfrm>
          <a:prstGeom prst="ellipse">
            <a:avLst/>
          </a:prstGeom>
          <a:solidFill>
            <a:srgbClr val="FF149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215374" y="796452"/>
            <a:ext cx="48398" cy="48398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098676" y="4270671"/>
            <a:ext cx="54384" cy="54384"/>
          </a:xfrm>
          <a:prstGeom prst="ellipse">
            <a:avLst/>
          </a:prstGeom>
          <a:solidFill>
            <a:srgbClr val="00F5C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747481" y="2420689"/>
            <a:ext cx="45846" cy="45846"/>
          </a:xfrm>
          <a:prstGeom prst="ellipse">
            <a:avLst/>
          </a:prstGeom>
          <a:solidFill>
            <a:srgbClr val="FF149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038629" y="3490600"/>
            <a:ext cx="76680" cy="76680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249993" y="5944827"/>
            <a:ext cx="56058" cy="56058"/>
          </a:xfrm>
          <a:prstGeom prst="ellipse">
            <a:avLst/>
          </a:prstGeom>
          <a:solidFill>
            <a:srgbClr val="00F5C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858927" y="5848642"/>
            <a:ext cx="71328" cy="71328"/>
          </a:xfrm>
          <a:prstGeom prst="ellipse">
            <a:avLst/>
          </a:prstGeom>
          <a:solidFill>
            <a:srgbClr val="FF149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809275" y="6179210"/>
            <a:ext cx="74104" cy="74104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1573726" y="6300221"/>
            <a:ext cx="69668" cy="69668"/>
          </a:xfrm>
          <a:prstGeom prst="ellipse">
            <a:avLst/>
          </a:prstGeom>
          <a:solidFill>
            <a:srgbClr val="00F5C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297600" y="2073595"/>
            <a:ext cx="82137" cy="82137"/>
          </a:xfrm>
          <a:prstGeom prst="ellipse">
            <a:avLst/>
          </a:prstGeom>
          <a:solidFill>
            <a:srgbClr val="FF149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131432" y="2281937"/>
            <a:ext cx="75534" cy="75534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0" y="2011680"/>
            <a:ext cx="1219169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00F5C4"/>
                </a:solidFill>
                <a:effectLst>
                  <a:glow rad="203200">
                    <a:srgbClr val="00F5C4">
                      <a:alpha val="5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POK POK YI</a:t>
            </a:r>
            <a:endParaRPr lang="en-US" sz="11000" dirty="0"/>
          </a:p>
        </p:txBody>
      </p:sp>
      <p:sp>
        <p:nvSpPr>
          <p:cNvPr id="63" name="Text 61"/>
          <p:cNvSpPr/>
          <p:nvPr/>
        </p:nvSpPr>
        <p:spPr>
          <a:xfrm>
            <a:off x="0" y="356616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1493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스트레스 받을 땐, 뽁뽁이 터트리기</a:t>
            </a:r>
            <a:endParaRPr lang="en-US" sz="2800" dirty="0"/>
          </a:p>
        </p:txBody>
      </p:sp>
      <p:sp>
        <p:nvSpPr>
          <p:cNvPr id="64" name="Text 62"/>
          <p:cNvSpPr/>
          <p:nvPr/>
        </p:nvSpPr>
        <p:spPr>
          <a:xfrm>
            <a:off x="0" y="429768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멀티플레이어 · 솔로 챌린지 게임 · 게임 기획서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0" y="603504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 · Designed &amp; Built by Joohyun Lee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F5C4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36576" cy="6858000"/>
          </a:xfrm>
          <a:prstGeom prst="rect">
            <a:avLst/>
          </a:prstGeom>
          <a:solidFill>
            <a:srgbClr val="FF149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657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00F5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 OVERVIEW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한 줄 컨셉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7040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"두들겨 부수는 카타르시스 — 뽁뽁이 터트리기를 멀티플레이어 아케이드 게임으로"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1A2238"/>
          </a:solidFill>
          <a:ln w="12700">
            <a:solidFill>
              <a:srgbClr val="00F5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7432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417320" y="2788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5C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CORE LOOP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338328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가득한 뽁뽁이를 손으로 미친 듯이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터트리며 점수를 쌓는 단순·중독 게임플레이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97680" y="260604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1A2238"/>
          </a:solidFill>
          <a:ln w="12700">
            <a:solidFill>
              <a:srgbClr val="00F5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34840" y="27432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166360" y="2788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5C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REAL-TIME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80560" y="338328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기반 실시간 멀티플레이.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2~4명이 같은 보드에서 경쟁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46720" y="260604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1A2238"/>
          </a:solidFill>
          <a:ln w="12700">
            <a:solidFill>
              <a:srgbClr val="00F5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83880" y="27432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🏆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8915400" y="2788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5C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PROGRESSION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0" y="338328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솔로 모드 10레벨 점진적 난이도 +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영구 보존되는 SOLO TOP 5 랭킹</a:t>
            </a:r>
            <a:endParaRPr lang="en-US" sz="1300" dirty="0"/>
          </a:p>
        </p:txBody>
      </p:sp>
      <p:pic>
        <p:nvPicPr>
          <p:cNvPr id="19" name="Image 0" descr="/Users/joohyun.lee/Documents/클로드/뽁뽁이 게임/_pptx_assets/01-lobb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0" y="1005840"/>
            <a:ext cx="3566160" cy="521208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8229600" y="1005840"/>
            <a:ext cx="3566160" cy="52120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F5C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229600" y="62636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▲ 로비 화면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5C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POK POK YI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F5C4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36576" cy="6858000"/>
          </a:xfrm>
          <a:prstGeom prst="rect">
            <a:avLst/>
          </a:prstGeom>
          <a:solidFill>
            <a:srgbClr val="FF149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657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00F5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 MODES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두 가지 모드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532120" cy="4572000"/>
          </a:xfrm>
          <a:prstGeom prst="roundRect">
            <a:avLst>
              <a:gd name="adj" fmla="val 2000"/>
            </a:avLst>
          </a:prstGeom>
          <a:solidFill>
            <a:srgbClr val="1A2238"/>
          </a:solidFill>
          <a:ln w="25400">
            <a:solidFill>
              <a:srgbClr val="00F5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1031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F5C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MULTI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914400" y="2834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~ 4 PLAYERS · 90초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38328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6자리 방 코드로 친구 초대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호스트가 START GAME 누르면 동시 시작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점수가 가장 높은 플레이어가 승리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멀티 전용 스페셜: 폭탄 / 불꽃 등장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매 게임 끝나면 15초 후 자동 재시작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55080" y="1828800"/>
            <a:ext cx="5532120" cy="4572000"/>
          </a:xfrm>
          <a:prstGeom prst="roundRect">
            <a:avLst>
              <a:gd name="adj" fmla="val 2000"/>
            </a:avLst>
          </a:prstGeom>
          <a:solidFill>
            <a:srgbClr val="1A2238"/>
          </a:solidFill>
          <a:ln w="25400">
            <a:solidFill>
              <a:srgbClr val="FF14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20840" y="21031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1493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SOLO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720840" y="28346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PLAYER · 30초 챌린지 · 10 LEVELS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720840" y="338328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30초 안에 목표 점수 도달하면 다음 레벨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L1: 850 → L10: 3,000 (250점 단위 상승)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실패 시 같은 레벨 재도전 (REPLAY)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레벨업마다 컬러/스페셜 등장 빈도 ↑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L5+ 부활 속도 폭증 (진정한 미친 모드)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영구 SOLO TOP 5 랭킹에 등재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5C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POK POK YI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F5C4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36576" cy="6858000"/>
          </a:xfrm>
          <a:prstGeom prst="rect">
            <a:avLst/>
          </a:prstGeom>
          <a:solidFill>
            <a:srgbClr val="FF149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657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00F5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 MECHANIC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핵심 메커닉</a:t>
            </a:r>
            <a:endParaRPr lang="en-US" sz="3800" dirty="0"/>
          </a:p>
        </p:txBody>
      </p:sp>
      <p:pic>
        <p:nvPicPr>
          <p:cNvPr id="6" name="Image 0" descr="/Users/joohyun.lee/Documents/클로드/뽁뽁이 게임/_pptx_assets/03-game-sol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828800"/>
            <a:ext cx="6400800" cy="4023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828800"/>
            <a:ext cx="6400800" cy="40233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F5C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5897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▲ 인게임 화면 — 격자 가득한 뽁뽁이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406640" y="1874520"/>
            <a:ext cx="73152" cy="868680"/>
          </a:xfrm>
          <a:prstGeom prst="rect">
            <a:avLst/>
          </a:prstGeom>
          <a:solidFill>
            <a:srgbClr val="00F5C4"/>
          </a:solidFill>
          <a:ln w="12700">
            <a:solidFill>
              <a:srgbClr val="00F5C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0" y="185623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5C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뽁뽁이 그리드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589520" y="2203704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뷰포트 비율 기반 동적 레이아웃 (반응형). 폰 ~38px / 데스크톱 ~56px 셀 사이즈로 자동 산출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406640" y="2880360"/>
            <a:ext cx="73152" cy="868680"/>
          </a:xfrm>
          <a:prstGeom prst="rect">
            <a:avLst/>
          </a:prstGeom>
          <a:solidFill>
            <a:srgbClr val="00F5C4"/>
          </a:solidFill>
          <a:ln w="12700">
            <a:solidFill>
              <a:srgbClr val="00F5C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589520" y="286207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5C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터트리기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589520" y="3209544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클릭/탭 한 번 → 실시간 사운드 + 시각 효과. Web Audio API로 하이톤 pop 합성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406640" y="3886200"/>
            <a:ext cx="73152" cy="868680"/>
          </a:xfrm>
          <a:prstGeom prst="rect">
            <a:avLst/>
          </a:prstGeom>
          <a:solidFill>
            <a:srgbClr val="00F5C4"/>
          </a:solidFill>
          <a:ln w="12700">
            <a:solidFill>
              <a:srgbClr val="00F5C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589520" y="386791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5C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부활 시스템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589520" y="4215384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터진 뽁뽁이의 일정 비율이 짧은 딜레이 후 다시 등장. 레벨에 따라 부활 속도 가속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406640" y="4892040"/>
            <a:ext cx="73152" cy="868680"/>
          </a:xfrm>
          <a:prstGeom prst="rect">
            <a:avLst/>
          </a:prstGeom>
          <a:solidFill>
            <a:srgbClr val="00F5C4"/>
          </a:solidFill>
          <a:ln w="12700">
            <a:solidFill>
              <a:srgbClr val="00F5C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589520" y="487375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5C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실시간 동기화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589520" y="5221224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기반. 모든 플레이어가 동일 보드를 공유하며 점수/상태 실시간 반영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5C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POK POK YI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F5C4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36576" cy="6858000"/>
          </a:xfrm>
          <a:prstGeom prst="rect">
            <a:avLst/>
          </a:prstGeom>
          <a:solidFill>
            <a:srgbClr val="FF149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657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00F5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SCORING SYSTEM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색깔별 점수 차등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단순한 5점/10점 구조에서 → 색상 티어로 전략성 추가. 어느 색을 우선 노릴지 의사결정 부여.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2743200" cy="3931920"/>
          </a:xfrm>
          <a:prstGeom prst="roundRect">
            <a:avLst>
              <a:gd name="adj" fmla="val 3333"/>
            </a:avLst>
          </a:prstGeom>
          <a:solidFill>
            <a:srgbClr val="1A2238"/>
          </a:solidFill>
          <a:ln w="25400">
            <a:solidFill>
              <a:srgbClr val="B0B8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377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0B8C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NORMAL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88036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B0B8C8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5</a:t>
            </a:r>
            <a:endParaRPr lang="en-US" sz="7800" dirty="0"/>
          </a:p>
        </p:txBody>
      </p:sp>
      <p:sp>
        <p:nvSpPr>
          <p:cNvPr id="10" name="Text 8"/>
          <p:cNvSpPr/>
          <p:nvPr/>
        </p:nvSpPr>
        <p:spPr>
          <a:xfrm>
            <a:off x="548640" y="4297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8B9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PTS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4800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🔘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85800" y="53949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 회색 뽁뽁이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29000" y="2194560"/>
            <a:ext cx="2743200" cy="3931920"/>
          </a:xfrm>
          <a:prstGeom prst="roundRect">
            <a:avLst>
              <a:gd name="adj" fmla="val 3333"/>
            </a:avLst>
          </a:prstGeom>
          <a:solidFill>
            <a:srgbClr val="1A2238"/>
          </a:solidFill>
          <a:ln w="25400">
            <a:solidFill>
              <a:srgbClr val="FFD7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2377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7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TIER 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29000" y="288036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D7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10</a:t>
            </a:r>
            <a:endParaRPr lang="en-US" sz="7800" dirty="0"/>
          </a:p>
        </p:txBody>
      </p:sp>
      <p:sp>
        <p:nvSpPr>
          <p:cNvPr id="16" name="Text 14"/>
          <p:cNvSpPr/>
          <p:nvPr/>
        </p:nvSpPr>
        <p:spPr>
          <a:xfrm>
            <a:off x="3429000" y="4297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8B9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29000" y="4800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🔴 🟡 🌸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566160" y="53949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빨강 · 노랑 · 핑크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09360" y="2194560"/>
            <a:ext cx="2743200" cy="3931920"/>
          </a:xfrm>
          <a:prstGeom prst="roundRect">
            <a:avLst>
              <a:gd name="adj" fmla="val 3333"/>
            </a:avLst>
          </a:prstGeom>
          <a:solidFill>
            <a:srgbClr val="1A2238"/>
          </a:solidFill>
          <a:ln w="25400">
            <a:solidFill>
              <a:srgbClr val="B266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2377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266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TIER 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09360" y="288036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B266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15</a:t>
            </a:r>
            <a:endParaRPr lang="en-US" sz="7800" dirty="0"/>
          </a:p>
        </p:txBody>
      </p:sp>
      <p:sp>
        <p:nvSpPr>
          <p:cNvPr id="22" name="Text 20"/>
          <p:cNvSpPr/>
          <p:nvPr/>
        </p:nvSpPr>
        <p:spPr>
          <a:xfrm>
            <a:off x="6309360" y="4297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8B9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09360" y="4800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🔵 🟣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446520" y="53949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파랑 · 보라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189720" y="2194560"/>
            <a:ext cx="2743200" cy="3931920"/>
          </a:xfrm>
          <a:prstGeom prst="roundRect">
            <a:avLst>
              <a:gd name="adj" fmla="val 3333"/>
            </a:avLst>
          </a:prstGeom>
          <a:solidFill>
            <a:srgbClr val="1A2238"/>
          </a:solidFill>
          <a:ln w="25400">
            <a:solidFill>
              <a:srgbClr val="00F5C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89720" y="2377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F5C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CHAIN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189720" y="288036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00F5C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Σ</a:t>
            </a:r>
            <a:endParaRPr lang="en-US" sz="7800" dirty="0"/>
          </a:p>
        </p:txBody>
      </p:sp>
      <p:sp>
        <p:nvSpPr>
          <p:cNvPr id="28" name="Text 26"/>
          <p:cNvSpPr/>
          <p:nvPr/>
        </p:nvSpPr>
        <p:spPr>
          <a:xfrm>
            <a:off x="9189720" y="4297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8B9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PTS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189720" y="4800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✦ 💣 🔥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9326880" y="53949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연쇄 + 보너스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5C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POK POK YI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F5C4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36576" cy="6858000"/>
          </a:xfrm>
          <a:prstGeom prst="rect">
            <a:avLst/>
          </a:prstGeom>
          <a:solidFill>
            <a:srgbClr val="FF149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657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00F5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SPECIAL #1 — SHIMMER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빛나는 뽁뽁이 ✦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1097280" y="2286000"/>
            <a:ext cx="3200400" cy="3200400"/>
          </a:xfrm>
          <a:prstGeom prst="ellipse">
            <a:avLst/>
          </a:prstGeom>
          <a:solidFill>
            <a:srgbClr val="FF1493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286000"/>
            <a:ext cx="3200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FFFFFF"/>
                </a:solidFill>
              </a:rPr>
              <a:t>✦</a:t>
            </a:r>
            <a:endParaRPr lang="en-US" sz="11000" dirty="0"/>
          </a:p>
        </p:txBody>
      </p:sp>
      <p:sp>
        <p:nvSpPr>
          <p:cNvPr id="8" name="Text 6"/>
          <p:cNvSpPr/>
          <p:nvPr/>
        </p:nvSpPr>
        <p:spPr>
          <a:xfrm>
            <a:off x="5029200" y="22860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무지개색으로 회전하며 ✦ 별 무늬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28346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5C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ROW / COLUMN BLAST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029200" y="3520440"/>
            <a:ext cx="6858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터트리면 가로 또는 세로 한 줄 전체가 연쇄 폭발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가로/세로 중 남은 뽁뽁이가 더 많은 쪽 자동 선택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줄에 있는 모든 색의 점수를 합산해서 획득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매직 차임 사운드 + 흰빛 빔 sweep 효과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한 게임당 최대 6개 (L3+ 단계적으로 max 증가)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L5+ 등장 확률 +10% 추가 보너스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5C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POK POK YI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F5C4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36576" cy="6858000"/>
          </a:xfrm>
          <a:prstGeom prst="rect">
            <a:avLst/>
          </a:prstGeom>
          <a:solidFill>
            <a:srgbClr val="FF149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657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00F5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SPECIAL #2 — BOMB &amp; FIRE (MULTI ONLY)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폭탄 💣  ·  불꽃 🔥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532120" cy="4663440"/>
          </a:xfrm>
          <a:prstGeom prst="roundRect">
            <a:avLst>
              <a:gd name="adj" fmla="val 1961"/>
            </a:avLst>
          </a:prstGeom>
          <a:solidFill>
            <a:srgbClr val="1A2238"/>
          </a:solidFill>
          <a:ln w="25400">
            <a:solidFill>
              <a:srgbClr val="FF88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148840"/>
            <a:ext cx="1371600" cy="1371600"/>
          </a:xfrm>
          <a:prstGeom prst="ellipse">
            <a:avLst/>
          </a:prstGeom>
          <a:solidFill>
            <a:srgbClr val="FF7F00"/>
          </a:solidFill>
          <a:ln w="25400">
            <a:solidFill>
              <a:srgbClr val="FFD7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14884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💣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2468880" y="2240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88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BOMB · 폭탄 뽁뽁이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468880" y="2697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부풀어 오르는 펄스 애니메이션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38862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터트리면 → 화면의 랜덤 10개 뽁뽁이 폭발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44348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BOOM 사운드 + 화면 흔들림 애니메이션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49834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+20점 보너스 + 폭발한 모든 뽁뽁이 점수 합산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55321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한 게임당 2~5번 등장 (확정 스케줄링)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55080" y="1783080"/>
            <a:ext cx="5532120" cy="4663440"/>
          </a:xfrm>
          <a:prstGeom prst="roundRect">
            <a:avLst>
              <a:gd name="adj" fmla="val 1961"/>
            </a:avLst>
          </a:prstGeom>
          <a:solidFill>
            <a:srgbClr val="1A2238"/>
          </a:solidFill>
          <a:ln w="25400">
            <a:solidFill>
              <a:srgbClr val="FF303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20840" y="2148840"/>
            <a:ext cx="1371600" cy="1371600"/>
          </a:xfrm>
          <a:prstGeom prst="ellipse">
            <a:avLst/>
          </a:prstGeom>
          <a:solidFill>
            <a:srgbClr val="FF4500"/>
          </a:solidFill>
          <a:ln w="25400">
            <a:solidFill>
              <a:srgbClr val="FFEE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214884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🔥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8275320" y="2240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03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FIRE · 불꽃 뽁뽁이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275320" y="2697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스파크 회전 + 8개 불똥 + 떨림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720840" y="38862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터트리면 → 가장자리 한 바퀴 전체 폭발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720840" y="44348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바깥 비어있으면 안쪽 ring으로 → 자동 탐색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20840" y="49834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14개 불똥 파티클 + WHOOSH 사운드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20840" y="55321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+25점 보너스, 한 게임당 단 1번만 등장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5C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POK POK YI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F5C4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36576" cy="6858000"/>
          </a:xfrm>
          <a:prstGeom prst="rect">
            <a:avLst/>
          </a:prstGeom>
          <a:solidFill>
            <a:srgbClr val="FF149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657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00F5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SOLO PROGRESSION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10 레벨 — 점진적 난이도 곡선</a:t>
            </a:r>
            <a:endParaRPr lang="en-US" sz="36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783080"/>
          <a:ext cx="685800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772400" y="1874520"/>
            <a:ext cx="4114800" cy="640080"/>
          </a:xfrm>
          <a:prstGeom prst="rect">
            <a:avLst/>
          </a:prstGeom>
          <a:solidFill>
            <a:srgbClr val="1A2238"/>
          </a:solidFill>
          <a:ln w="12700">
            <a:solidFill>
              <a:srgbClr val="2A355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0" y="1874520"/>
            <a:ext cx="73152" cy="640080"/>
          </a:xfrm>
          <a:prstGeom prst="rect">
            <a:avLst/>
          </a:prstGeom>
          <a:solidFill>
            <a:srgbClr val="FF1493"/>
          </a:solidFill>
          <a:ln w="12700">
            <a:solidFill>
              <a:srgbClr val="FF149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55280" y="191109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14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955280" y="2167128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레벨업마다 +250점 (L3는 1250)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772400" y="2587752"/>
            <a:ext cx="4114800" cy="640080"/>
          </a:xfrm>
          <a:prstGeom prst="rect">
            <a:avLst/>
          </a:prstGeom>
          <a:solidFill>
            <a:srgbClr val="1A2238"/>
          </a:solidFill>
          <a:ln w="12700">
            <a:solidFill>
              <a:srgbClr val="2A355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772400" y="2587752"/>
            <a:ext cx="73152" cy="640080"/>
          </a:xfrm>
          <a:prstGeom prst="rect">
            <a:avLst/>
          </a:prstGeom>
          <a:solidFill>
            <a:srgbClr val="FF1493"/>
          </a:solidFill>
          <a:ln w="12700">
            <a:solidFill>
              <a:srgbClr val="FF149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955280" y="26243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14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955280" y="2880360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컬러 뽁뽁이 등장량 1.0x → 2.8x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772400" y="3300984"/>
            <a:ext cx="4114800" cy="640080"/>
          </a:xfrm>
          <a:prstGeom prst="rect">
            <a:avLst/>
          </a:prstGeom>
          <a:solidFill>
            <a:srgbClr val="1A2238"/>
          </a:solidFill>
          <a:ln w="12700">
            <a:solidFill>
              <a:srgbClr val="2A355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772400" y="3300984"/>
            <a:ext cx="73152" cy="640080"/>
          </a:xfrm>
          <a:prstGeom prst="rect">
            <a:avLst/>
          </a:prstGeom>
          <a:solidFill>
            <a:srgbClr val="FF1493"/>
          </a:solidFill>
          <a:ln w="12700">
            <a:solidFill>
              <a:srgbClr val="FF149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955280" y="33375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14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BOMB / FIRE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955280" y="3593592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L3+ 등장. L4+ 갯수 보너스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772400" y="4014216"/>
            <a:ext cx="4114800" cy="640080"/>
          </a:xfrm>
          <a:prstGeom prst="rect">
            <a:avLst/>
          </a:prstGeom>
          <a:solidFill>
            <a:srgbClr val="1A2238"/>
          </a:solidFill>
          <a:ln w="12700">
            <a:solidFill>
              <a:srgbClr val="2A355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772400" y="4014216"/>
            <a:ext cx="73152" cy="640080"/>
          </a:xfrm>
          <a:prstGeom prst="rect">
            <a:avLst/>
          </a:prstGeom>
          <a:solidFill>
            <a:srgbClr val="FF1493"/>
          </a:solidFill>
          <a:ln w="12700">
            <a:solidFill>
              <a:srgbClr val="FF149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955280" y="40507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14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RESPAWN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7955280" y="4306824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 1.3x → L5+ 6x/level → L10 37x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7772400" y="4727448"/>
            <a:ext cx="4114800" cy="640080"/>
          </a:xfrm>
          <a:prstGeom prst="rect">
            <a:avLst/>
          </a:prstGeom>
          <a:solidFill>
            <a:srgbClr val="1A2238"/>
          </a:solidFill>
          <a:ln w="12700">
            <a:solidFill>
              <a:srgbClr val="2A3556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772400" y="4727448"/>
            <a:ext cx="73152" cy="640080"/>
          </a:xfrm>
          <a:prstGeom prst="rect">
            <a:avLst/>
          </a:prstGeom>
          <a:solidFill>
            <a:srgbClr val="FF1493"/>
          </a:solidFill>
          <a:ln w="12700">
            <a:solidFill>
              <a:srgbClr val="FF149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955280" y="476402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14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SHIMMER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7955280" y="5020056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L3+ 확률 단계적 ↑, L5+ 추가 +10%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7772400" y="5440680"/>
            <a:ext cx="4114800" cy="640080"/>
          </a:xfrm>
          <a:prstGeom prst="rect">
            <a:avLst/>
          </a:prstGeom>
          <a:solidFill>
            <a:srgbClr val="1A2238"/>
          </a:solidFill>
          <a:ln w="12700">
            <a:solidFill>
              <a:srgbClr val="2A3556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772400" y="5440680"/>
            <a:ext cx="73152" cy="640080"/>
          </a:xfrm>
          <a:prstGeom prst="rect">
            <a:avLst/>
          </a:prstGeom>
          <a:solidFill>
            <a:srgbClr val="FF1493"/>
          </a:solidFill>
          <a:ln w="12700">
            <a:solidFill>
              <a:srgbClr val="FF149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55280" y="547725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14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7955280" y="5733288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레벨 자동 재시도 (10초) + REPLAY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5C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POK POK YI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/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F5C4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36576" cy="6858000"/>
          </a:xfrm>
          <a:prstGeom prst="rect">
            <a:avLst/>
          </a:prstGeom>
          <a:solidFill>
            <a:srgbClr val="FF149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657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00F5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SOCIAL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SOLO TOP 5 · 후기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단순 1회성 게임이 아닌 — 누적되는 기록과 커뮤니티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5532120" cy="4114800"/>
          </a:xfrm>
          <a:prstGeom prst="roundRect">
            <a:avLst>
              <a:gd name="adj" fmla="val 2222"/>
            </a:avLst>
          </a:prstGeom>
          <a:solidFill>
            <a:srgbClr val="1A2238"/>
          </a:solidFill>
          <a:ln w="25400">
            <a:solidFill>
              <a:srgbClr val="FFD7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377440"/>
            <a:ext cx="5532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🏆 SOLO TOP 5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77240" y="30632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◆ 닉네임당 최고 기록만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33832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레벨 우선 → 동률 시 점수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38404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◆ 5명 표시 + 자동 갱신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41605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게임 종료 시 모두에게 broadcast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46177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◆ 영구 저장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49377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Upstash Redis (무료 티어)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53949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◆ 메달 표시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57150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🥇 🥈 🥉 + LV / 점수 표기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55080" y="2194560"/>
            <a:ext cx="5532120" cy="4114800"/>
          </a:xfrm>
          <a:prstGeom prst="roundRect">
            <a:avLst>
              <a:gd name="adj" fmla="val 2222"/>
            </a:avLst>
          </a:prstGeom>
          <a:solidFill>
            <a:srgbClr val="1A2238"/>
          </a:solidFill>
          <a:ln w="25400">
            <a:solidFill>
              <a:srgbClr val="FF14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2377440"/>
            <a:ext cx="5532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1493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✎ REVIEWS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583680" y="30632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1493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◆ 닉네임 + 후기 입력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12280" y="33832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메인 닉네임 자동 동기화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83680" y="38404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1493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◆ 실시간 broadcast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12280" y="41605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제출 즉시 모든 클라이언트 반영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83680" y="46177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1493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◆ 5개 표시 + 더보기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12280" y="49377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클릭 시 펼침 + 세로 스크롤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83680" y="53949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1493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◆ 최대 200개 보관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12280" y="57150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Upstash Redis 영구 저장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5C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POK POK YI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/ 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F5C4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36576" cy="6858000"/>
          </a:xfrm>
          <a:prstGeom prst="rect">
            <a:avLst/>
          </a:prstGeom>
          <a:solidFill>
            <a:srgbClr val="FF149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657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00F5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VISUAL DESIGN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레트로 네온 + 픽셀 아케이드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691640" cy="914400"/>
          </a:xfrm>
          <a:prstGeom prst="rect">
            <a:avLst/>
          </a:prstGeom>
          <a:solidFill>
            <a:srgbClr val="00F5C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83464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NEON CYAN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310896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#00F5C4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68880" y="1828800"/>
            <a:ext cx="1691640" cy="914400"/>
          </a:xfrm>
          <a:prstGeom prst="rect">
            <a:avLst/>
          </a:prstGeom>
          <a:solidFill>
            <a:srgbClr val="FF149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283464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HOT PINK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68880" y="310896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#FF1493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389120" y="1828800"/>
            <a:ext cx="1691640" cy="914400"/>
          </a:xfrm>
          <a:prstGeom prst="rect">
            <a:avLst/>
          </a:prstGeom>
          <a:solidFill>
            <a:srgbClr val="FFD7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0" y="283464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GOLD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0" y="310896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#FFD700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309360" y="1828800"/>
            <a:ext cx="1691640" cy="914400"/>
          </a:xfrm>
          <a:prstGeom prst="rect">
            <a:avLst/>
          </a:prstGeom>
          <a:solidFill>
            <a:srgbClr val="4DFF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283464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NEON LIME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09360" y="310896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#4DFF88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229600" y="1828800"/>
            <a:ext cx="1691640" cy="914400"/>
          </a:xfrm>
          <a:prstGeom prst="rect">
            <a:avLst/>
          </a:prstGeom>
          <a:solidFill>
            <a:srgbClr val="FF88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283464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ORANGE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0" y="310896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#FF8800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0149840" y="1828800"/>
            <a:ext cx="1691640" cy="914400"/>
          </a:xfrm>
          <a:prstGeom prst="rect">
            <a:avLst/>
          </a:prstGeom>
          <a:solidFill>
            <a:srgbClr val="B26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149840" y="283464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VIOLET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149840" y="310896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#B266FF</a:t>
            </a:r>
            <a:endParaRPr lang="en-US" sz="900" dirty="0"/>
          </a:p>
        </p:txBody>
      </p:sp>
      <p:pic>
        <p:nvPicPr>
          <p:cNvPr id="24" name="Image 0" descr="/Users/joohyun.lee/Documents/클로드/뽁뽁이 게임/_pptx_assets/04-game-popp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3657600"/>
            <a:ext cx="6400800" cy="2926080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548640" y="3657600"/>
            <a:ext cx="6400800" cy="29260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F5C4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406640" y="37033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5C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▸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7680960" y="37033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5C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3D 입체 버블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7680960" y="395935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레디얼 그라데이션 + 다층 박스섀도우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7406640" y="42702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5C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▸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7680960" y="427024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5C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네온 글로우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7680960" y="452628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스페셜 색상마다 외부 글로우 + 펄스 애니메이션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7406640" y="483717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5C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▸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7680960" y="483717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5C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픽셀 폰트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7680960" y="509320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Start 2P — 타이틀/HUD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7406640" y="540410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5C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▸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7680960" y="540410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5C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터지는 잔재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7680960" y="5660136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터진 자리에 X자 크랙 흔적 잔존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7406640" y="59710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5C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▸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7680960" y="597103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5C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플레이어 색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7680960" y="6227064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시안 / P2 핫핑크 / P3 그린 / P4 오렌지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5C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POK POK YI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F5C4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36576" cy="6858000"/>
          </a:xfrm>
          <a:prstGeom prst="rect">
            <a:avLst/>
          </a:prstGeom>
          <a:solidFill>
            <a:srgbClr val="FF149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657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00F5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기술 스택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657600" cy="4434840"/>
          </a:xfrm>
          <a:prstGeom prst="roundRect">
            <a:avLst>
              <a:gd name="adj" fmla="val 2500"/>
            </a:avLst>
          </a:prstGeom>
          <a:solidFill>
            <a:srgbClr val="1A2238"/>
          </a:solidFill>
          <a:ln w="25400">
            <a:solidFill>
              <a:srgbClr val="00F5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011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00F5C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FRONTEND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6974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HTML5 + CSS3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99008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Grid / Flexbox / aspect-ratio 동그라미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5661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Vanilla JavaScript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385876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framework — 빠른 응답성 우선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44348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Web Audio API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472744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오실레이터 합성 (pop / chime / boom / whoosh)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5303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CSS Animations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559612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@keyframes — 펄스, 플리커, 스파크, 흔들림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89120" y="1828800"/>
            <a:ext cx="3657600" cy="4434840"/>
          </a:xfrm>
          <a:prstGeom prst="roundRect">
            <a:avLst>
              <a:gd name="adj" fmla="val 2500"/>
            </a:avLst>
          </a:prstGeom>
          <a:solidFill>
            <a:srgbClr val="1A2238"/>
          </a:solidFill>
          <a:ln w="25400">
            <a:solidFill>
              <a:srgbClr val="FF14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0" y="2011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FF1493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BACKEND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663440" y="26974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Node.js + Express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63440" y="299008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서버 + 정적 파일 서빙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63440" y="35661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Socket.IO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663440" y="385876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양방향 통신 (방, 게임 상태, 채팅)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63440" y="44348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Upstash Redis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663440" y="472744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리더보드/리뷰 영구 저장 (REST API)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63440" y="5303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파일 fallback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663440" y="559612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Upstash 실패 시 디스크 fallback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229600" y="1828800"/>
            <a:ext cx="3657600" cy="4434840"/>
          </a:xfrm>
          <a:prstGeom prst="roundRect">
            <a:avLst>
              <a:gd name="adj" fmla="val 2500"/>
            </a:avLst>
          </a:prstGeom>
          <a:solidFill>
            <a:srgbClr val="1A2238"/>
          </a:solidFill>
          <a:ln w="25400">
            <a:solidFill>
              <a:srgbClr val="FFD7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0" y="2011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FFD7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DEPLOY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503920" y="26974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Render.com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503920" y="299008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무료 플랜 자동 배포 (GitHub 연동)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503920" y="35661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GitHub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503920" y="385876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버전관리 + Auto Deploy 트리거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503920" y="44348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HTTPS / WSS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503920" y="472744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기본 TLS 종료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503920" y="5303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Mobile-first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503920" y="559612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Safari safe-area / 100dvh 대응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5C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POK POK YI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F5C4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36576" cy="6858000"/>
          </a:xfrm>
          <a:prstGeom prst="rect">
            <a:avLst/>
          </a:prstGeom>
          <a:solidFill>
            <a:srgbClr val="FF149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657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00F5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MOBILE OPTIMIZATION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iOS / Android 디테일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486400" cy="2148840"/>
          </a:xfrm>
          <a:prstGeom prst="roundRect">
            <a:avLst>
              <a:gd name="adj" fmla="val 3404"/>
            </a:avLst>
          </a:prstGeom>
          <a:solidFill>
            <a:srgbClr val="1A2238"/>
          </a:solidFill>
          <a:ln w="12700">
            <a:solidFill>
              <a:srgbClr val="00F5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116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F5C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iOS Safari 100vh 이슈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2514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FF6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27432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주소창 상태에 따라 vh가 변동 → 화면 잘림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3154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00F5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" y="33832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100dvh + viewport-fit=cover + safe-area-inset 패딩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5486400" cy="2148840"/>
          </a:xfrm>
          <a:prstGeom prst="roundRect">
            <a:avLst>
              <a:gd name="adj" fmla="val 3404"/>
            </a:avLst>
          </a:prstGeom>
          <a:solidFill>
            <a:srgbClr val="1A2238"/>
          </a:solidFill>
          <a:ln w="12700">
            <a:solidFill>
              <a:srgbClr val="00F5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3434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F5C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노치/홈 인디케이터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2296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FF6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2960" y="50749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컨텐츠가 노치 영역과 홈바 아래로 밀려 가려짐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5486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00F5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2960" y="57150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env(safe-area-inset-top/bottom) 적용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0" y="1828800"/>
            <a:ext cx="5486400" cy="2148840"/>
          </a:xfrm>
          <a:prstGeom prst="roundRect">
            <a:avLst>
              <a:gd name="adj" fmla="val 3404"/>
            </a:avLst>
          </a:prstGeom>
          <a:solidFill>
            <a:srgbClr val="1A2238"/>
          </a:solidFill>
          <a:ln w="12700">
            <a:solidFill>
              <a:srgbClr val="00F5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0" y="20116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F5C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오디오 잠금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675120" y="2514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FF6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675120" y="27432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iOS는 첫 사용자 제스처 전엔 Web Audio 음소거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75120" y="3154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00F5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675120" y="33832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첫 터치/클릭에 silent buffer 재생으로 unlock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0" y="4160520"/>
            <a:ext cx="5486400" cy="2148840"/>
          </a:xfrm>
          <a:prstGeom prst="roundRect">
            <a:avLst>
              <a:gd name="adj" fmla="val 3404"/>
            </a:avLst>
          </a:prstGeom>
          <a:solidFill>
            <a:srgbClr val="1A2238"/>
          </a:solidFill>
          <a:ln w="12700">
            <a:solidFill>
              <a:srgbClr val="00F5C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0" y="43434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F5C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동그란 버블 유지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FF6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675120" y="50749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비율 차이로 셀이 비대칭 → 타원 발생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675120" y="5486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00F5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675120" y="57150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뷰포트별 cols/rows 동적 산출 + aspect-ratio:1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5C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POK POK YI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09441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06161" y="4613388"/>
            <a:ext cx="43446" cy="43446"/>
          </a:xfrm>
          <a:prstGeom prst="ellipse">
            <a:avLst/>
          </a:prstGeom>
          <a:solidFill>
            <a:srgbClr val="00F5C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56581" y="2225764"/>
            <a:ext cx="73398" cy="73398"/>
          </a:xfrm>
          <a:prstGeom prst="ellipse">
            <a:avLst/>
          </a:prstGeom>
          <a:solidFill>
            <a:srgbClr val="FF149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73864" y="3945148"/>
            <a:ext cx="57351" cy="57351"/>
          </a:xfrm>
          <a:prstGeom prst="ellipse">
            <a:avLst/>
          </a:prstGeom>
          <a:solidFill>
            <a:srgbClr val="00F5C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88116" y="981929"/>
            <a:ext cx="46363" cy="46363"/>
          </a:xfrm>
          <a:prstGeom prst="ellipse">
            <a:avLst/>
          </a:prstGeom>
          <a:solidFill>
            <a:srgbClr val="FF149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54661" y="2842110"/>
            <a:ext cx="68794" cy="68794"/>
          </a:xfrm>
          <a:prstGeom prst="ellipse">
            <a:avLst/>
          </a:prstGeom>
          <a:solidFill>
            <a:srgbClr val="00F5C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4729" y="1305209"/>
            <a:ext cx="75683" cy="75683"/>
          </a:xfrm>
          <a:prstGeom prst="ellipse">
            <a:avLst/>
          </a:prstGeom>
          <a:solidFill>
            <a:srgbClr val="FF149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80895" y="4377320"/>
            <a:ext cx="42523" cy="42523"/>
          </a:xfrm>
          <a:prstGeom prst="ellipse">
            <a:avLst/>
          </a:prstGeom>
          <a:solidFill>
            <a:srgbClr val="00F5C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52332" y="4460651"/>
            <a:ext cx="65530" cy="65530"/>
          </a:xfrm>
          <a:prstGeom prst="ellipse">
            <a:avLst/>
          </a:prstGeom>
          <a:solidFill>
            <a:srgbClr val="FF149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93694" y="1477332"/>
            <a:ext cx="74194" cy="74194"/>
          </a:xfrm>
          <a:prstGeom prst="ellipse">
            <a:avLst/>
          </a:prstGeom>
          <a:solidFill>
            <a:srgbClr val="00F5C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05904" y="5565848"/>
            <a:ext cx="71353" cy="71353"/>
          </a:xfrm>
          <a:prstGeom prst="ellipse">
            <a:avLst/>
          </a:prstGeom>
          <a:solidFill>
            <a:srgbClr val="FF149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867704" y="6018920"/>
            <a:ext cx="50656" cy="50656"/>
          </a:xfrm>
          <a:prstGeom prst="ellipse">
            <a:avLst/>
          </a:prstGeom>
          <a:solidFill>
            <a:srgbClr val="00F5C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8398" y="2013641"/>
            <a:ext cx="69916" cy="69916"/>
          </a:xfrm>
          <a:prstGeom prst="ellipse">
            <a:avLst/>
          </a:prstGeom>
          <a:solidFill>
            <a:srgbClr val="FF149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31517" y="1385273"/>
            <a:ext cx="42738" cy="42738"/>
          </a:xfrm>
          <a:prstGeom prst="ellipse">
            <a:avLst/>
          </a:prstGeom>
          <a:solidFill>
            <a:srgbClr val="00F5C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15262" y="4043712"/>
            <a:ext cx="78107" cy="78107"/>
          </a:xfrm>
          <a:prstGeom prst="ellipse">
            <a:avLst/>
          </a:prstGeom>
          <a:solidFill>
            <a:srgbClr val="FF149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820000" y="2243341"/>
            <a:ext cx="47263" cy="47263"/>
          </a:xfrm>
          <a:prstGeom prst="ellipse">
            <a:avLst/>
          </a:prstGeom>
          <a:solidFill>
            <a:srgbClr val="00F5C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76915" y="2007751"/>
            <a:ext cx="48975" cy="48975"/>
          </a:xfrm>
          <a:prstGeom prst="ellipse">
            <a:avLst/>
          </a:prstGeom>
          <a:solidFill>
            <a:srgbClr val="FF149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605969" y="3738006"/>
            <a:ext cx="68797" cy="68797"/>
          </a:xfrm>
          <a:prstGeom prst="ellipse">
            <a:avLst/>
          </a:prstGeom>
          <a:solidFill>
            <a:srgbClr val="00F5C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424333" y="2125645"/>
            <a:ext cx="59045" cy="59045"/>
          </a:xfrm>
          <a:prstGeom prst="ellipse">
            <a:avLst/>
          </a:prstGeom>
          <a:solidFill>
            <a:srgbClr val="FF149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703879" y="6817144"/>
            <a:ext cx="58847" cy="58847"/>
          </a:xfrm>
          <a:prstGeom prst="ellipse">
            <a:avLst/>
          </a:prstGeom>
          <a:solidFill>
            <a:srgbClr val="00F5C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4970" y="1198832"/>
            <a:ext cx="46764" cy="46764"/>
          </a:xfrm>
          <a:prstGeom prst="ellipse">
            <a:avLst/>
          </a:prstGeom>
          <a:solidFill>
            <a:srgbClr val="FF149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78895" y="5634840"/>
            <a:ext cx="39038" cy="39038"/>
          </a:xfrm>
          <a:prstGeom prst="ellipse">
            <a:avLst/>
          </a:prstGeom>
          <a:solidFill>
            <a:srgbClr val="00F5C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64068" y="4634477"/>
            <a:ext cx="71155" cy="71155"/>
          </a:xfrm>
          <a:prstGeom prst="ellipse">
            <a:avLst/>
          </a:prstGeom>
          <a:solidFill>
            <a:srgbClr val="FF149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81081" y="3478761"/>
            <a:ext cx="74564" cy="74564"/>
          </a:xfrm>
          <a:prstGeom prst="ellipse">
            <a:avLst/>
          </a:prstGeom>
          <a:solidFill>
            <a:srgbClr val="00F5C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20637" y="5814025"/>
            <a:ext cx="74193" cy="74193"/>
          </a:xfrm>
          <a:prstGeom prst="ellipse">
            <a:avLst/>
          </a:prstGeom>
          <a:solidFill>
            <a:srgbClr val="FF149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00124" y="1879509"/>
            <a:ext cx="79467" cy="79467"/>
          </a:xfrm>
          <a:prstGeom prst="ellipse">
            <a:avLst/>
          </a:prstGeom>
          <a:solidFill>
            <a:srgbClr val="00F5C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929022" y="3444644"/>
            <a:ext cx="47809" cy="47809"/>
          </a:xfrm>
          <a:prstGeom prst="ellipse">
            <a:avLst/>
          </a:prstGeom>
          <a:solidFill>
            <a:srgbClr val="FF149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812676" y="2821541"/>
            <a:ext cx="74465" cy="74465"/>
          </a:xfrm>
          <a:prstGeom prst="ellipse">
            <a:avLst/>
          </a:prstGeom>
          <a:solidFill>
            <a:srgbClr val="00F5C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942981" y="4714776"/>
            <a:ext cx="70070" cy="70070"/>
          </a:xfrm>
          <a:prstGeom prst="ellipse">
            <a:avLst/>
          </a:prstGeom>
          <a:solidFill>
            <a:srgbClr val="FF149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840399" y="2816744"/>
            <a:ext cx="48256" cy="48256"/>
          </a:xfrm>
          <a:prstGeom prst="ellipse">
            <a:avLst/>
          </a:prstGeom>
          <a:solidFill>
            <a:srgbClr val="00F5C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434181" y="2554239"/>
            <a:ext cx="56551" cy="56551"/>
          </a:xfrm>
          <a:prstGeom prst="ellipse">
            <a:avLst/>
          </a:prstGeom>
          <a:solidFill>
            <a:srgbClr val="FF149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798289" y="6641150"/>
            <a:ext cx="53743" cy="53743"/>
          </a:xfrm>
          <a:prstGeom prst="ellipse">
            <a:avLst/>
          </a:prstGeom>
          <a:solidFill>
            <a:srgbClr val="00F5C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694079" y="305052"/>
            <a:ext cx="54663" cy="54663"/>
          </a:xfrm>
          <a:prstGeom prst="ellipse">
            <a:avLst/>
          </a:prstGeom>
          <a:solidFill>
            <a:srgbClr val="FF149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02972" y="5372892"/>
            <a:ext cx="68784" cy="68784"/>
          </a:xfrm>
          <a:prstGeom prst="ellipse">
            <a:avLst/>
          </a:prstGeom>
          <a:solidFill>
            <a:srgbClr val="00F5C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47937" y="3457669"/>
            <a:ext cx="39468" cy="39468"/>
          </a:xfrm>
          <a:prstGeom prst="ellipse">
            <a:avLst/>
          </a:prstGeom>
          <a:solidFill>
            <a:srgbClr val="FF149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67191" y="6346603"/>
            <a:ext cx="59141" cy="59141"/>
          </a:xfrm>
          <a:prstGeom prst="ellipse">
            <a:avLst/>
          </a:prstGeom>
          <a:solidFill>
            <a:srgbClr val="00F5C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489497" y="4261544"/>
            <a:ext cx="38525" cy="38525"/>
          </a:xfrm>
          <a:prstGeom prst="ellipse">
            <a:avLst/>
          </a:prstGeom>
          <a:solidFill>
            <a:srgbClr val="FF149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097913" y="310408"/>
            <a:ext cx="67993" cy="67993"/>
          </a:xfrm>
          <a:prstGeom prst="ellipse">
            <a:avLst/>
          </a:prstGeom>
          <a:solidFill>
            <a:srgbClr val="00F5C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885809" y="120131"/>
            <a:ext cx="79074" cy="79074"/>
          </a:xfrm>
          <a:prstGeom prst="ellipse">
            <a:avLst/>
          </a:prstGeom>
          <a:solidFill>
            <a:srgbClr val="FF149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174541" y="2324756"/>
            <a:ext cx="66312" cy="66312"/>
          </a:xfrm>
          <a:prstGeom prst="ellipse">
            <a:avLst/>
          </a:prstGeom>
          <a:solidFill>
            <a:srgbClr val="00F5C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12084" y="945134"/>
            <a:ext cx="71052" cy="71052"/>
          </a:xfrm>
          <a:prstGeom prst="ellipse">
            <a:avLst/>
          </a:prstGeom>
          <a:solidFill>
            <a:srgbClr val="FF149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764982" y="6015406"/>
            <a:ext cx="43560" cy="43560"/>
          </a:xfrm>
          <a:prstGeom prst="ellipse">
            <a:avLst/>
          </a:prstGeom>
          <a:solidFill>
            <a:srgbClr val="00F5C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1114806" y="4449815"/>
            <a:ext cx="62812" cy="62812"/>
          </a:xfrm>
          <a:prstGeom prst="ellipse">
            <a:avLst/>
          </a:prstGeom>
          <a:solidFill>
            <a:srgbClr val="FF149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876865" y="4658603"/>
            <a:ext cx="59918" cy="59918"/>
          </a:xfrm>
          <a:prstGeom prst="ellipse">
            <a:avLst/>
          </a:prstGeom>
          <a:solidFill>
            <a:srgbClr val="00F5C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649960" y="473723"/>
            <a:ext cx="37962" cy="37962"/>
          </a:xfrm>
          <a:prstGeom prst="ellipse">
            <a:avLst/>
          </a:prstGeom>
          <a:solidFill>
            <a:srgbClr val="FF149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291693" y="696153"/>
            <a:ext cx="79144" cy="79144"/>
          </a:xfrm>
          <a:prstGeom prst="ellipse">
            <a:avLst/>
          </a:prstGeom>
          <a:solidFill>
            <a:srgbClr val="00F5C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334420" y="1328951"/>
            <a:ext cx="62113" cy="62113"/>
          </a:xfrm>
          <a:prstGeom prst="ellipse">
            <a:avLst/>
          </a:prstGeom>
          <a:solidFill>
            <a:srgbClr val="FF149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38083" y="1715900"/>
            <a:ext cx="72372" cy="72372"/>
          </a:xfrm>
          <a:prstGeom prst="ellipse">
            <a:avLst/>
          </a:prstGeom>
          <a:solidFill>
            <a:srgbClr val="00F5C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501017" y="1439744"/>
            <a:ext cx="43733" cy="43733"/>
          </a:xfrm>
          <a:prstGeom prst="ellipse">
            <a:avLst/>
          </a:prstGeom>
          <a:solidFill>
            <a:srgbClr val="FF149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653199" y="1099610"/>
            <a:ext cx="39386" cy="39386"/>
          </a:xfrm>
          <a:prstGeom prst="ellipse">
            <a:avLst/>
          </a:prstGeom>
          <a:solidFill>
            <a:srgbClr val="00F5C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780709" y="449534"/>
            <a:ext cx="70882" cy="70882"/>
          </a:xfrm>
          <a:prstGeom prst="ellipse">
            <a:avLst/>
          </a:prstGeom>
          <a:solidFill>
            <a:srgbClr val="FF149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0" y="2194560"/>
            <a:ext cx="1219169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00F5C4"/>
                </a:solidFill>
                <a:effectLst>
                  <a:glow rad="177800">
                    <a:srgbClr val="00F5C4">
                      <a:alpha val="5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THANK YOU</a:t>
            </a:r>
            <a:endParaRPr lang="en-US" sz="8800" dirty="0"/>
          </a:p>
        </p:txBody>
      </p:sp>
      <p:sp>
        <p:nvSpPr>
          <p:cNvPr id="53" name="Text 51"/>
          <p:cNvSpPr/>
          <p:nvPr/>
        </p:nvSpPr>
        <p:spPr>
          <a:xfrm>
            <a:off x="0" y="365760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14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Demo · https://pok-pok-yi.onrender.com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0" y="411480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 · https://github.com/ljoohyun93/pok-pok-yi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0" y="585216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D7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— Joohyun Lee —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POK POK YI 게임 기획서</dc:title>
  <dc:subject>PptxGenJS Presentation</dc:subject>
  <dc:creator>Joohyun Lee</dc:creator>
  <cp:lastModifiedBy>Joohyun Lee</cp:lastModifiedBy>
  <cp:revision>1</cp:revision>
  <dcterms:created xsi:type="dcterms:W3CDTF">2026-05-05T03:55:41Z</dcterms:created>
  <dcterms:modified xsi:type="dcterms:W3CDTF">2026-05-05T03:55:41Z</dcterms:modified>
</cp:coreProperties>
</file>